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984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4" name="Text 1"/>
          <p:cNvSpPr/>
          <p:nvPr/>
        </p:nvSpPr>
        <p:spPr>
          <a:xfrm>
            <a:off x="914400" y="17373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INTELLIGENZA ARTIFICIALE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NELLA PUBBLICA AMMINISTRAZIONE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914400" y="3200400"/>
            <a:ext cx="457200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2 – Aspetti Avanzati: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Chaining, RAG, Agenti IA, Governance e Strategia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43891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Prof.ssa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Flora Amato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Dip. Di Ingegneria </a:t>
            </a: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Elettrica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delle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Tecnologie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dell’Informazione</a:t>
            </a:r>
            <a:endParaRPr lang="en-US" sz="1600" dirty="0">
              <a:solidFill>
                <a:srgbClr val="D5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degli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</a:t>
            </a:r>
            <a:r>
              <a:rPr lang="en-US" sz="16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Napoli Federico II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 della Lezione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1148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 e Collegamento con la Lezione 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44752"/>
            <a:ext cx="41148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44475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Chaining: Catene di Prompt per Compiti Complessi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1883664"/>
            <a:ext cx="411480" cy="347472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548640" y="188366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88366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e Istruzioni Persistenti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41148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Text 13"/>
          <p:cNvSpPr/>
          <p:nvPr/>
        </p:nvSpPr>
        <p:spPr>
          <a:xfrm>
            <a:off x="548640" y="232257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2257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 nella PA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761488"/>
            <a:ext cx="41148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27614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2761488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IA e Workflow Automatizzati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200400"/>
            <a:ext cx="411480" cy="347472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548640" y="320040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20040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per l’Analisi Dati e il Supporto Decisionale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639312"/>
            <a:ext cx="411480" cy="34747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548640" y="363931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63931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dell’IA nell’Ente Pubblico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4078224"/>
            <a:ext cx="411480" cy="34747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548640" y="40782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078224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una Strategia IA per la PA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517136"/>
            <a:ext cx="411480" cy="347472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0" name="Text 28"/>
          <p:cNvSpPr/>
          <p:nvPr/>
        </p:nvSpPr>
        <p:spPr>
          <a:xfrm>
            <a:off x="548640" y="451713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5171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 Avanzati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Riepilogo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Collegamento con la Lezione 1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Dalla Lezione 1: Le Basi del Prompting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Lezione 1 abbiamo affrontato le fondamenta del prompt engineering per la PA: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formula RCIFV (Ruolo, Contesto, Istruzione, Formato, Vincoli)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Tecniche zero-shot e few-shot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per ragionamento passo-passo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con Persona/Audience e vincoli negativi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d’uso: determine, analisi normativa, verbali, FAQ, AI Act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riusabili e checklist pre-invio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39776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questa lezione faremo un salto di livello: da singoli prompt a sistemi complessi, dall’uso individuale alla governance organizzativa.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Prompt Chaining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Catene di prompt per compiti complessi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Cos’è il Prompt Chaining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Prompt Chaining consiste nel suddividere un compito complesso in una sequenza di prompt collegati, dove l’output di ciascun passaggio diventa l’input del successivo. Questa tecnica è fondamentale nella PA, dove i processi amministrativi sono intrinsecamente sequenziali e richiedono validazione intermedia.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828800" cy="118872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2880360"/>
            <a:ext cx="347472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2724912" y="2286000"/>
            <a:ext cx="1828800" cy="118872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2724912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Elaborazione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53712" y="2880360"/>
            <a:ext cx="347472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4901184" y="2286000"/>
            <a:ext cx="1828800" cy="1188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4901184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Redazione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729984" y="2880360"/>
            <a:ext cx="347472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7077456" y="2286000"/>
            <a:ext cx="1828800" cy="118872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7077456" y="228600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Vantaggi del chaining: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Riduce errori e allucinazioni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Permette verifica umana ad ogni passaggio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Gestisce complessità che un singolo prompt non può affrontare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– Catena per Procedura di Affidamento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– ANALISI FABBISOGNO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"Analizza la seguente richiesta dell’ufficio tecnico e identifica: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oggetto, importo stimato, urgenza, CPC/CPV, soglia applicabile."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2 – SELEZIONE PROCEDURA (usa output Step 1)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"Dato l’importo di [X]€ e la categoria [Y], indica la procedura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 affidamento corretta ai sensi del D.Lgs. 36/2023, con articolo."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3 – BOZZA DETERMINA (usa output Step 1 + Step 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"Redigi la determina a contrarre con i dati raccolti.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Struttura: Premesse, Richiamato, Considerato, Determina."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4 – CHECKLIST DI REVISIONE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"Verifica la determina: completezza campi, riferimenti normativi,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coerenza importi, conformità ANAC. Output: checklist SÌ/NO."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Usare il Prompt Chaining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Catena suggerita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 di gara complessa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 → Procedura → Atti → Revisione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Risposta a ricorso/contenzioso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Fatti → Normativa → Argomentazione → Bozza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Bilancio e rendicontazione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Estrazione dati → Analisi → Criticità → Relazione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Piano della Performance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Obiettivi → Indicatori → Target → Documento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Bando di concorso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Profilo → Requisiti → Prove → Testo bando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37033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d’oro: se il compito richiede più di 3 competenze diverse (giuridica, contabile, redazionale...), usa il chaining.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System Prompt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Istruzioni persistenti e personalizzazione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Prompt: Il “Manuale dell’Assistente”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System Prompt è un’istruzione iniziale che configura il comportamento dell’IA per tutta la conversazione. Definisce identità, vincoli, stile e conoscenze di base. Negli strumenti enterprise (API, Gemini Gems, Custom GPTs) è possibile impostarlo in modo persistente.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840480" cy="2560320"/>
          </a:xfrm>
          <a:prstGeom prst="rect">
            <a:avLst/>
          </a:prstGeom>
          <a:solidFill>
            <a:srgbClr val="D5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Cosa include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Identità e ruolo dell’assistente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Normativa di riferimento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Stile e registro linguistico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Vincoli GDPR e sicurezza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output predefinito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103120"/>
            <a:ext cx="3840480" cy="2560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Vantaggi per la PA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tra funzionari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automatica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errori ripetitivi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più rapido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“su misura” dell’ente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– System Prompt per Ufficio Contratti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Sei l’assistente IA dell’Ufficio Contratti del Comune di [Nome].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IDENTITÀ: Esperto di appalti pubblici e contrattualistica PA.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NORMATIVA: Operi nel quadro del D.Lgs. 36/2023, Linee Guida ANAC,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D.Lgs. 33/2013 (trasparenza), GDPR.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VINCOLI: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Rispondi SEMPRE in italiano formale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Cita sempre gli articoli di legge pertinenti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Non inventare mai giurisprudenza: se non sei certo, dillo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Non trattare dati personali: usa sempre [NOME], [CF], [INDIRIZZO]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 l’importo supera le soglie comunitarie, segnalalo esplicitamente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 OUTPUT: Usa sempre intestazione, corpo strutturato, riferimenti.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DISCLAIMER: Concludi con "Bozza generata con IA – Richiede validazione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responsabile del procedimento."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Retrieval-Augmented Generation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Connettere l’IA ai documenti dell’ente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Cos’è la RAG e Perché Serve alla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RAG (Retrieval-Augmented Generation) è una tecnica che permette all’IA di accedere a documenti specifici dell’ente prima di generare la risposta. Invece di basarsi solo sulla conoscenza pre-addestrata, l’IA cerca informazioni nei documenti caricati e le usa come contesto per rispondere in modo preciso e aggiornato.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468880" cy="13716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RETRIEVAL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Ricerca nei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2971800"/>
            <a:ext cx="4572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Shape 7"/>
          <p:cNvSpPr/>
          <p:nvPr/>
        </p:nvSpPr>
        <p:spPr>
          <a:xfrm>
            <a:off x="3474720" y="2286000"/>
            <a:ext cx="2468880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AUGMENTATION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arricchito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971800"/>
            <a:ext cx="457200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Shape 10"/>
          <p:cNvSpPr/>
          <p:nvPr/>
        </p:nvSpPr>
        <p:spPr>
          <a:xfrm>
            <a:off x="6400800" y="2286000"/>
            <a:ext cx="2468880" cy="13716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0" y="2286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GENERATION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Risposta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fondatata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804672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069080"/>
            <a:ext cx="320040" cy="3200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188720" y="397764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RAG riduce drasticamente le allucinazioni perché l’IA risponde sulla base di documenti reali dell’ente, non sulla conoscenza generica.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Applicazioni RAG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1905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d’uso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 normativo 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L’IA accede a regolamenti, circolari, delibere dell’ente per rispondere a quesiti dei funzionari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Sportello virtuale al cittadino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 che consulta FAQ, modulistica, bandi attivi per risposte accurate e aggiornate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Supporto istruttoria pratiche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L’IA confronta la domanda del cittadino con i requisiti del bando/regolamento caricato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Ricerca precedenti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Ricerca automatica in archivi di determine, delibere, pareri per individuare precedenti simili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Formazione del personale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Assistente che risponde su procedure interne consultando manuali operativi e CCNL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Strumenti RAG Accessibili alla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serve sviluppare sistemi da zero. Esistono strumenti già pronti: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funziona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(Projects)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Upload di documenti in un Progetto: l’IA li consulta automaticamente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Gems / NotebookLM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Caricamento documenti per creare assistenti specializzati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Copilot + SharePoint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Integrazione nativa con la knowledge base dell’ente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Soluzioni 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+ Ollama/LLaMA per installazioni on-premise (GDPR-compliant)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657600"/>
            <a:ext cx="804672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370332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Attenzione: prima di caricare documenti su piattaforme cloud, verificare la conformità GDPR e le policy dell’ente sul trattamento dati. Preferire soluzioni europee o on-premise per dati sensibili.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Agenti IA e Workflow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Dall’assistente passivo al collaboratore autonomo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Cos’è un Agente 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IA è un sistema che non si limita a rispondere a domande, ma può pianificare, eseguire azioni, consultare strumenti esterni e iterare autonomamente fino al completamento di un compito. Nella PA, gli agenti possono orchestrare workflow complessi che oggi richiedono molti passaggi manuali.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3840480" cy="2286000"/>
          </a:xfrm>
          <a:prstGeom prst="rect">
            <a:avLst/>
          </a:prstGeom>
          <a:solidFill>
            <a:srgbClr val="D5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Chatbot tradizionale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Domanda → Risposta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turno alla volta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azione esterna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 memoria tra sessioni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840480" cy="228600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754880" y="2240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 IA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029200" y="2651760"/>
            <a:ext cx="3291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 → Piano → Esecuzione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autonomo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tool: email, DB, calendari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Memoria e contesto persistenti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 di Agenti IA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Protocollo: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classifica la PEC in arrivo, la protocolla, individua l’ufficio competente, notifica il responsabile.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Bandi: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monitora le piattaforme (PNRR, PON, POR), identifica bandi pertinenti, pre-compila le schede di ammissibilità.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Rendicontazione: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raccoglie i giustificativi da sistemi diversi, verifica conformità con il piano finanziario, genera il report.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Controllo Atti: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legge la bozza, verifica riferimenti normativi, controlla coerenza interna, segnala anomalie.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URP: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risponde alle richieste del cittadino, prenota appuntamenti, genera ticket, escala al funzionario se necessario.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Human-in-the-Loop: L’Umano resta al Centro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 PA, nessun agente IA deve operare senza supervisione umana, specialmente per decisioni che impattano diritti dei cittadini. Il modello Human-in-the-Loop (HITL) prevede che il funzionario approvi ogni azione critica dell’agente.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2560320" cy="10972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Automazione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compiti a basso rischio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 classificazione protocollo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560320" cy="10972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347472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leggera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L’agente propone,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funzionario approva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2560320" cy="10972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329184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passaggio richiede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validazione umana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8046720" cy="914400"/>
          </a:xfrm>
          <a:prstGeom prst="rect">
            <a:avLst/>
          </a:prstGeom>
          <a:solidFill>
            <a:srgbClr val="FFF3E0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43400"/>
            <a:ext cx="320040" cy="32004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88720" y="4251960"/>
            <a:ext cx="7223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 Act (art. 14) richiede esplicitamente la sorveglianza umana per i sistemi ad alto rischio. La Legge 132/2025 rafforza questo principio per la PA italiana.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IA per l’Analisi Dati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Supporto decisionale e data-driven PA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Dall’Analisi Manuale al Supporto 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L’IA generativa può analizzare dati tabulari, produrre sintesi, identificare trend e anomalie. Combinata con strumenti come Code Interpreter (ChatGPT) o Artifacts (Claude), permette ai funzionari di effettuare analisi sofisticate senza competenze di programmazione.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 bilancio e scostamenti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 indicatori di performance (DUP, Piano Performance)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delle segnalazioni/reclami dei cittadini per area tematica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tempi procedimentali (L. 241/90) e individuazione colli di bottiglia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per la trasparenza e il controllo di gestione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predittiva di flussi (tributi, richieste, consumi)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Esempio – Prompt per Analisi Dati di Bilancio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8046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Agisci come un esperto di contabilità degli enti locali.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 fornisco il file CSV con le entrate e le uscite del Comune per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il triennio 2023-2025, suddivise per missione e programma.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Esegui le seguenti analisi: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Calcola la variazione percentuale anno su anno per ogni missione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Identifica le 3 voci con maggiore scostamento rispetto alle previsioni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Evidenzia eventuali squilibri tra entrate vincolate e spese correlate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Genera un grafico a barre con i saldi per missione (2025)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Scrivi un executive summary di 200 parole per il Sindaco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Formato: tabella dei dati + grafico + summary discorsivo.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Evidenzia criticità in rosso e punti di forza in verde.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Governance dell’IA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Organizzare l’uso responsabile dell’IA nell’ente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Perché Serve una Governance dell’IA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L’adozione dell’IA nella PA non può essere spontanea e disorganizzata. Serve un quadro di governance che definisca chi può usare l’IA, per cosa, con quali strumenti e con quali responsabilità. Il rischio altrimenti è l’uso incontrollato (“shadow AI”), con conseguenze su sicurezza, privacy e qualità degli atti.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828800" cy="13716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utilizzo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24912" y="2286000"/>
            <a:ext cx="1828800" cy="13716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2724912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personale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01184" y="2286000"/>
            <a:ext cx="1828800" cy="1371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4901184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 sistemi IA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77456" y="2286000"/>
            <a:ext cx="1828800" cy="137160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7077456" y="228600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monitoraggio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4 pilastri della Governance IA nella PA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Elementi di una Policy IA per l’Ente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Ambito di applicazione: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 strumenti sono autorizzati, quali vietati, per quali processi.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Classificazione dei dati: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 dati possono essere inseriti nei prompt (mai dati personali non anonimizzati su piattaforme cloud).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Responsabilità: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 funzionario che usa l’IA resta responsabile dell’output. L’IA non firma atti.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Trasparenza: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obbligo di dichiarare l’uso dell’IA nei documenti prodotti (art. 4 L. 132/2025).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Revisione periodica: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aggiornamento almeno annuale in funzione dell’evoluzione tecnologica e normativa.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Registro dei Sistemi IA dell’Ente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L’AI Act richiede alle PA di registrare i sistemi IA ad alto rischio in un database europeo. Anche per i sistemi a rischio inferiore, un registro interno è buona pratica di governance.</a:t>
            </a:r>
            <a:endParaRPr lang="en-US" sz="15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Esempio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sistema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Denominazione e versione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Pro – Anthropic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Scopo nell’ente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Supporto redazione atti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 di rischio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Secondo AI 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trattati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 di dati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 normativi, dati anonimi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Dirigente referente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Dir. Affari Generali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Valutazione impatto privacy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richiesta / Effettuata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revisione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Prossima verifica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31/12/2026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 Strategia IA per la PA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progetto pilota all’adozione sistemica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5 Fasi dell’Adozione dell’IA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457200" cy="640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005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CONSAPEVOLEZZA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0058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Formazione base, sperimentazione individuale, cultura dell’innovazione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810512"/>
            <a:ext cx="457200" cy="64008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548640" y="1810512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88720" y="1810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181051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casi d’uso, metriche, lessons learned, team dedicato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615184"/>
            <a:ext cx="457200" cy="6400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548640" y="2615184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6151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0" y="261518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Policy, registro, DPIA, ruoli e responsabilità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419856"/>
            <a:ext cx="457200" cy="640080"/>
          </a:xfrm>
          <a:prstGeom prst="rect">
            <a:avLst/>
          </a:prstGeom>
          <a:solidFill>
            <a:srgbClr val="2E8B57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548640" y="3419856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4198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74720" y="341985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Estensione a più uffici, integrazione con sistemi esistenti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24528"/>
            <a:ext cx="457200" cy="6400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548640" y="4224528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42245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OTTIMIZZAZIONE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74720" y="4224528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Misurazione impatto, feedback loop, evoluzione continua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Misurare l’Impatto: KPI per l’IA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dimostrare il valore dell’IA alla dirigenza e agli organi di controllo:</a:t>
            </a:r>
            <a:endParaRPr lang="en-US" sz="15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 misurarlo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esempio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risparmio per atto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 con IA vs senza IA (campione)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-40% tempo redazione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Tasso di errore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Errori normativi pre/post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-50% errori di citazione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Soddisfazione cittadini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Survey su risposte chatbot/FAQ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&gt;80% utile/soddisfatto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Adozione interna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funzionari che usano IA regolarmente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&gt;60% a 12 mesi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Conformità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su policy e DPIA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sistemi registrati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Rischi e Strategie di Mitigazione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Rischio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Impatto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Mitigazione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Allucinazioni in atti ufficiali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Validazione umana obbligatoria +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Violazione GDPR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dati + strumenti on-premise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Dipendenza da un fornitore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Multi-vendor + prompt portabili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e discriminazione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output + test su gruppi diversi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Resistenza del personale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Formazione + quick wins + coinvolgimento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Shadow AI (uso non autorizzato)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chiara + strumenti ufficiali facili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 Esercizi Avanzati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Mettere in pratica le competenze avanzate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Istruzioni per gli Esercizi Avanzati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 esercizi richiedono l’applicazione combinata delle tecniche apprese nelle Lezioni 1 e 2. Si consiglia di lavorare in gruppo e di documentare il processo, non solo il risultato.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Scrivere i prompt completi per ogni step della catena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Eseguirli in sequenza, usando l’output come input del passo successivo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Documentare dove l’IA sbaglia e come avete corretto</a:t>
            </a:r>
            <a:endParaRPr lang="en-US" sz="140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Valutare la qualità finale rispetto a un documento prodotto manualmente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1 – Prompt Chaining: Risposta a Ricorso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Costruire una catena di 4 prompt per gestire un ricorso amministrativo.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cittadino ha presentato ricorso contro il diniego della concessione edilizia per una veranda. Il Comune deve preparare le controdeduzioni.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Catena richiesta: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1: Analisi del ricorso (punti contestati, normativa invocata)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2: Ricerca dei fondamenti giuridici della PA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3: Redazione controdeduzioni punto per punto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Step 4: Revisione finale e checklist di conformità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Coerenza tra gli step. Qualità giuridica delle controdeduzioni.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2 – System Prompt per il Tuo Ufficio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Progettare un system prompt completo per il proprio ufficio.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Scrivi un system prompt che includa: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Identità e competenze dell’assistente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Normativa specifica del tuo ufficio (almeno 5 riferimenti)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Vincoli di sicurezza e privacy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Formato output predefinito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Disclaimer di validazione umana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il system prompt con 5 richieste tipiche del tuo lavoro quotidiano.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Completezza, aderenza alla realtà dell’ufficio, qualità output.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3 – Progettare un Sistema RAG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Sperimentare la RAG caricando documenti reali dell’ente.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Scegliere 3-5 documenti del proprio ufficio (regolamento, circolare, FAQ)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Caricarli su un Progetto Claude, Gemini Gem o NotebookLM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Formulare 10 domande che un funzionario o cittadino potrebbe fare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Valutare le risposte: correttezza, citazione fonti, completezza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Confrontare: RAG vs prompt senza documenti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Riduzione allucinazioni. Accuratezza delle citazioni. Utilità pratica.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4 – Bozza di Policy IA per l’Ente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84048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Redigere una bozza di policy sull’uso dell’IA nel proprio ente.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 (in gruppo):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Mappare gli strumenti IA già in uso (anche informalmente) nell’ente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Classificare i processi per livello di rischio AI Act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Definire regole su: dati ammessi, strumenti autorizzati, responsabilità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Redigere la bozza (usare l’IA stessa con prompt chaining!)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Includere un modello di registro dei sistemi IA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atteso: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di 5-10 pagine pronto per essere sottoposto alla dirigenza.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Esercizio 5 – Analisi Dati con IA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731520" y="914400"/>
            <a:ext cx="78638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Obiettivo: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Usare l’IA per analizzare dati reali dell’ente e produrre insight.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Compito: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Scegli un dataset del tuo ente (reclami, tempi procedimentali, tributi)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Anonimizzalo se contiene dati personali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Usa l’IA per: descrivere il dataset, individuare trend, trovare anomalie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 Chiedi la generazione di 3 grafici significativi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 Fai produrre un executive summary per il dirigente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Criteri: </a:t>
            </a: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Correttezza dell’analisi. Utilità dei grafici. Chiarezza del summary.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Checklist: Competenze Avanzate IA nella PA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77724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suddividere un compito complesso in una catena di prompt collegati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progettare un system prompt specifico per il mio ufficio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Conosco il principio della RAG e so quando è utile applicarla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Comprendo la differenza tra chatbot e agente IA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applicare il principio Human-in-the-Loop nel mio contesto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usare l’IA per analizzare dati tabulari e produrre report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Conosco gli elementi essenziali di una policy IA per l’ente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compilare un registro dei sistemi IA secondo l’AI Act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misurare l’impatto dell’IA con KPI adeguati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So identificare e mitigare i rischi principali dell’IA nella PA</a:t>
            </a:r>
            <a:endParaRPr lang="en-US" sz="13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Conclusioni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1371600" y="23774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sperimentazione all’innovazione sistemica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1371600" y="4389120"/>
            <a:ext cx="36576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Riepilogo delle Lezioni 1 e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3474720"/>
          </a:xfrm>
          <a:prstGeom prst="rect">
            <a:avLst/>
          </a:prstGeom>
          <a:solidFill>
            <a:srgbClr val="D5E8F0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Lezione 1 – Fondamenti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RCIFV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e Few-shot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e Audience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 d’uso e Template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pre-invio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05840"/>
            <a:ext cx="3840480" cy="34747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Lezione 2 – Avanzato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Chaining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e documenti dell’ente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 IA e HITL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Analisi dati e decisioni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e Strategia IA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Riferimenti Normativi e Risorse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2286000" cy="0"/>
          </a:xfrm>
          <a:prstGeom prst="line">
            <a:avLst/>
          </a:prstGeom>
          <a:noFill/>
          <a:ln w="254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(UE) 2024/1689 – AI Act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D.Lgs. 82/2005 – Codice dell’Amministrazione Digitale (CAD)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Regolamento (UE) 2016/679 – GDPR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132/2025 – Disposizioni in materia di 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Linee guida AgID per l’adozione dell’IA nella PA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Triennale per l’Informatica nella PA 2024-2026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OECD AI Policy Observatory – AI in the Public Sector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Prompt Engineering Guide – docs.anthropic.com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E75B6"/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Grazie per l’attenzione!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3657600" cy="0"/>
          </a:xfrm>
          <a:prstGeom prst="line">
            <a:avLst/>
          </a:prstGeom>
          <a:noFill/>
          <a:ln w="381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91440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Prof.ssa Flora Amato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D5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DIETI – Università degli Studi di Napoli Federico II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flora.amato@unina.it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23B103457D0EE47A147E7CAA46D706D" ma:contentTypeVersion="3" ma:contentTypeDescription="Creare un nuovo documento." ma:contentTypeScope="" ma:versionID="d5066fe91e70493597af45bb585880c1">
  <xsd:schema xmlns:xsd="http://www.w3.org/2001/XMLSchema" xmlns:xs="http://www.w3.org/2001/XMLSchema" xmlns:p="http://schemas.microsoft.com/office/2006/metadata/properties" xmlns:ns2="c6ea8c6a-1ef4-4cba-ad03-3b398055cc2a" targetNamespace="http://schemas.microsoft.com/office/2006/metadata/properties" ma:root="true" ma:fieldsID="9ee159f0bc60e232bc372501a896d9e0" ns2:_="">
    <xsd:import namespace="c6ea8c6a-1ef4-4cba-ad03-3b398055cc2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ea8c6a-1ef4-4cba-ad03-3b398055cc2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0B9AA1-248A-47EF-BBD2-D2AFB8D73A5F}"/>
</file>

<file path=customXml/itemProps2.xml><?xml version="1.0" encoding="utf-8"?>
<ds:datastoreItem xmlns:ds="http://schemas.openxmlformats.org/officeDocument/2006/customXml" ds:itemID="{C334E4BF-4160-4EE3-B613-BE4F51F4A0AB}"/>
</file>

<file path=customXml/itemProps3.xml><?xml version="1.0" encoding="utf-8"?>
<ds:datastoreItem xmlns:ds="http://schemas.openxmlformats.org/officeDocument/2006/customXml" ds:itemID="{1EFCEE4C-AAB5-4BC1-910F-0961C5CC3CB1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3043</Words>
  <Application>Microsoft Office PowerPoint</Application>
  <PresentationFormat>Presentazione su schermo (16:9)</PresentationFormat>
  <Paragraphs>482</Paragraphs>
  <Slides>42</Slides>
  <Notes>42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42</vt:i4>
      </vt:variant>
    </vt:vector>
  </HeadingPairs>
  <TitlesOfParts>
    <vt:vector size="47" baseType="lpstr">
      <vt:lpstr>Arial</vt:lpstr>
      <vt:lpstr>Calibri</vt:lpstr>
      <vt:lpstr>Courier New</vt:lpstr>
      <vt:lpstr>Georgia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nella PA - Lezione 2: Aspetti Avanzati</dc:title>
  <dc:subject>PptxGenJS Presentation</dc:subject>
  <dc:creator>Prof.ssa Flora Amato</dc:creator>
  <cp:lastModifiedBy>FLORA AMATO</cp:lastModifiedBy>
  <cp:revision>2</cp:revision>
  <dcterms:created xsi:type="dcterms:W3CDTF">2026-03-14T07:43:07Z</dcterms:created>
  <dcterms:modified xsi:type="dcterms:W3CDTF">2026-03-14T08:33:07Z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d0b24d-6422-44b0-b3de-abb3a9e8c81a_Enabled">
    <vt:lpwstr>true</vt:lpwstr>
  </property>
  <property fmtid="{D5CDD505-2E9C-101B-9397-08002B2CF9AE}" pid="3" name="MSIP_Label_2ad0b24d-6422-44b0-b3de-abb3a9e8c81a_SetDate">
    <vt:lpwstr>2026-03-14T08:33:06Z</vt:lpwstr>
  </property>
  <property fmtid="{D5CDD505-2E9C-101B-9397-08002B2CF9AE}" pid="4" name="MSIP_Label_2ad0b24d-6422-44b0-b3de-abb3a9e8c81a_Method">
    <vt:lpwstr>Standard</vt:lpwstr>
  </property>
  <property fmtid="{D5CDD505-2E9C-101B-9397-08002B2CF9AE}" pid="5" name="MSIP_Label_2ad0b24d-6422-44b0-b3de-abb3a9e8c81a_Name">
    <vt:lpwstr>defa4170-0d19-0005-0004-bc88714345d2</vt:lpwstr>
  </property>
  <property fmtid="{D5CDD505-2E9C-101B-9397-08002B2CF9AE}" pid="6" name="MSIP_Label_2ad0b24d-6422-44b0-b3de-abb3a9e8c81a_SiteId">
    <vt:lpwstr>2fcfe26a-bb62-46b0-b1e3-28f9da0c45fd</vt:lpwstr>
  </property>
  <property fmtid="{D5CDD505-2E9C-101B-9397-08002B2CF9AE}" pid="7" name="MSIP_Label_2ad0b24d-6422-44b0-b3de-abb3a9e8c81a_ActionId">
    <vt:lpwstr>6d8f9d72-d462-45c4-b482-4c25565c447b</vt:lpwstr>
  </property>
  <property fmtid="{D5CDD505-2E9C-101B-9397-08002B2CF9AE}" pid="8" name="MSIP_Label_2ad0b24d-6422-44b0-b3de-abb3a9e8c81a_ContentBits">
    <vt:lpwstr>0</vt:lpwstr>
  </property>
  <property fmtid="{D5CDD505-2E9C-101B-9397-08002B2CF9AE}" pid="9" name="ContentTypeId">
    <vt:lpwstr>0x010100423B103457D0EE47A147E7CAA46D706D</vt:lpwstr>
  </property>
</Properties>
</file>