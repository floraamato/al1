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8"/>
  </p:notesMasterIdLst>
  <p:sldIdLst>
    <p:sldId id="256" r:id="rId5"/>
    <p:sldId id="257" r:id="rId6"/>
    <p:sldId id="29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98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7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85CE9-CBBB-4C90-B9A5-8A8B20172612}" v="2" dt="2026-03-12T14:57:38.753"/>
    <p1510:client id="{7DD5E84B-0639-4402-AEDA-2F26F0176337}" v="303" dt="2026-03-14T08:47:35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7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8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A AMATO" userId="S::flora.amato@unina.it::f31f7b75-9253-4d8c-bec7-0ba8a8b46e3e" providerId="AD" clId="Web-{7DD5E84B-0639-4402-AEDA-2F26F0176337}"/>
    <pc:docChg chg="addSld modSld">
      <pc:chgData name="FLORA AMATO" userId="S::flora.amato@unina.it::f31f7b75-9253-4d8c-bec7-0ba8a8b46e3e" providerId="AD" clId="Web-{7DD5E84B-0639-4402-AEDA-2F26F0176337}" dt="2026-03-14T08:47:35.370" v="302" actId="20577"/>
      <pc:docMkLst>
        <pc:docMk/>
      </pc:docMkLst>
      <pc:sldChg chg="modSp">
        <pc:chgData name="FLORA AMATO" userId="S::flora.amato@unina.it::f31f7b75-9253-4d8c-bec7-0ba8a8b46e3e" providerId="AD" clId="Web-{7DD5E84B-0639-4402-AEDA-2F26F0176337}" dt="2026-03-14T08:41:30.880" v="2" actId="20577"/>
        <pc:sldMkLst>
          <pc:docMk/>
          <pc:sldMk cId="0" sldId="276"/>
        </pc:sldMkLst>
        <pc:spChg chg="mod">
          <ac:chgData name="FLORA AMATO" userId="S::flora.amato@unina.it::f31f7b75-9253-4d8c-bec7-0ba8a8b46e3e" providerId="AD" clId="Web-{7DD5E84B-0639-4402-AEDA-2F26F0176337}" dt="2026-03-14T08:41:30.880" v="2" actId="20577"/>
          <ac:spMkLst>
            <pc:docMk/>
            <pc:sldMk cId="0" sldId="276"/>
            <ac:spMk id="7" creationId="{00000000-0000-0000-0000-000000000000}"/>
          </ac:spMkLst>
        </pc:spChg>
      </pc:sldChg>
      <pc:sldChg chg="modSp add replId">
        <pc:chgData name="FLORA AMATO" userId="S::flora.amato@unina.it::f31f7b75-9253-4d8c-bec7-0ba8a8b46e3e" providerId="AD" clId="Web-{7DD5E84B-0639-4402-AEDA-2F26F0176337}" dt="2026-03-14T08:47:35.370" v="302" actId="20577"/>
        <pc:sldMkLst>
          <pc:docMk/>
          <pc:sldMk cId="3823262292" sldId="298"/>
        </pc:sldMkLst>
        <pc:spChg chg="mod">
          <ac:chgData name="FLORA AMATO" userId="S::flora.amato@unina.it::f31f7b75-9253-4d8c-bec7-0ba8a8b46e3e" providerId="AD" clId="Web-{7DD5E84B-0639-4402-AEDA-2F26F0176337}" dt="2026-03-14T08:43:00.726" v="73" actId="20577"/>
          <ac:spMkLst>
            <pc:docMk/>
            <pc:sldMk cId="3823262292" sldId="298"/>
            <ac:spMk id="3" creationId="{1C3D75CC-35F5-0014-06AF-3483ED67A316}"/>
          </ac:spMkLst>
        </pc:spChg>
        <pc:spChg chg="mod">
          <ac:chgData name="FLORA AMATO" userId="S::flora.amato@unina.it::f31f7b75-9253-4d8c-bec7-0ba8a8b46e3e" providerId="AD" clId="Web-{7DD5E84B-0639-4402-AEDA-2F26F0176337}" dt="2026-03-14T08:47:35.370" v="302" actId="20577"/>
          <ac:spMkLst>
            <pc:docMk/>
            <pc:sldMk cId="3823262292" sldId="298"/>
            <ac:spMk id="7" creationId="{C54DD65E-FFA0-6E58-26F2-0ED3A4235CA8}"/>
          </ac:spMkLst>
        </pc:spChg>
      </pc:sldChg>
    </pc:docChg>
  </pc:docChgLst>
  <pc:docChgLst>
    <pc:chgData name="FLORA AMATO" userId="S::flora.amato@unina.it::f31f7b75-9253-4d8c-bec7-0ba8a8b46e3e" providerId="AD" clId="Web-{49B85CE9-CBBB-4C90-B9A5-8A8B20172612}"/>
    <pc:docChg chg="sldOrd">
      <pc:chgData name="FLORA AMATO" userId="S::flora.amato@unina.it::f31f7b75-9253-4d8c-bec7-0ba8a8b46e3e" providerId="AD" clId="Web-{49B85CE9-CBBB-4C90-B9A5-8A8B20172612}" dt="2026-03-12T14:57:38.753" v="1"/>
      <pc:docMkLst>
        <pc:docMk/>
      </pc:docMkLst>
      <pc:sldChg chg="ord">
        <pc:chgData name="FLORA AMATO" userId="S::flora.amato@unina.it::f31f7b75-9253-4d8c-bec7-0ba8a8b46e3e" providerId="AD" clId="Web-{49B85CE9-CBBB-4C90-B9A5-8A8B20172612}" dt="2026-03-12T14:57:38.753" v="1"/>
        <pc:sldMkLst>
          <pc:docMk/>
          <pc:sldMk cId="0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46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CBC3-BA7E-E787-F300-0E6E22FE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4B7C-9B55-F8BA-868F-2367F461B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BFD4E-F6EC-D58C-35DF-80CEEDCBE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034DF-81EE-EEE4-9D5D-ACD51E5AE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57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INTELLIGENZA ARTIFICIALE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NELLA PUBBLICA AMMINISTRAZIONE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3200400"/>
            <a:ext cx="457200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Prompt Efficaci: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Tecniche, Esempi Pratici ed Esercizi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Prof.ssa Flora Amato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DIP. DI INGEGNERIA ELETTRICA  E DELLE TECNOLOGIE DELL’INFORMAZIONE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FEDERICO II – 2026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Introduzione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Prompt Engineering nella PA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Riferimenti Normativi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(UE) 2024/1689 – AI Act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D.Lgs. 82/2005 – Codice dell’Amministrazione Digitale (CAD)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(UE) 2016/679 – GDPR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132/2025 – Disposizioni in materia di intelligenza artificiale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 guida AgID per l’adozione dell’IA nella PA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l’IA Generativa nella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L’adozione dell’Intelligenza Artificiale generativa nella Pubblica Amministrazione italiana rappresenta un’opportunità senza precedenti per migliorare l’efficienza, la trasparenza e la qualità dei servizi al cittadino.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come Claude, Gemini e Copilot possono supportare i funzionari pubblici nella redazione di documenti, nell’analisi di normative, nella gestione di pratiche amministrative e nella comunicazione istituzionale.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Tuttavia, la qualità delle risposte generate dall’IA dipende in modo diretto dalla qualità delle istruzioni fornite, cioè dai prompt. Un prompt ben scritto trasforma un modello linguistico in un assistente altamente produttivo; un prompt vago o ambiguo produce risposte generiche e poco utili.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9776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fondamentale: L’IA è un assistente, non un decisore. Il funzionario pubblico mantiene sempre la responsabilità finale del contenuto prodotto e della decisione amministrativa.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Anatomia di un Prompt Efficace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cinque elementi fondamentali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Cinque Elementi del Prompt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efficace è composto da diversi elementi che, combinati, guidano l’IA verso la risposta desiderata. Non tutti gli elementi sono sempre necessari, ma conoscerli permette di costruire istruzioni precise e mirate.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2301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 nella 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Definisce la persona/competenza che l’IA deve assumere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"Agisci come un esperto di diritto amministrativo italiano"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Fornisce informazioni di sfondo rilevanti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"Stiamo preparando la risposta a un’istanza di accesso civico (FOIA)"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L’azione specifica richiesta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"Redigi una nota di riscontro che accolga parzialmente l’istanza"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struttura desiderata dell’output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"Struttura: premessa normativa, motivazione, dispositivo"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Vincoli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Limiti, tono, lunghezza, riferimenti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"Usa linguaggio formale. Max 500 parole. Cita i riferimenti normativi"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Formula R-C-I-F-V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ricordare facilmente i cinque elementi, si può usare l’acronimo RCIFV (Ruolo, Contesto, Istruzione, Formato, Vincoli).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554480" cy="20116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67712" y="2011680"/>
            <a:ext cx="1554480" cy="20116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267712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267712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86784" y="2011680"/>
            <a:ext cx="1554480" cy="2011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986784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986784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05856" y="2011680"/>
            <a:ext cx="1554480" cy="201168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705856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705856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24928" y="2011680"/>
            <a:ext cx="1554480" cy="20116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424928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424928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necessario includere sempre tutti gli elementi: per richieste semplici bastano Istruzione e Formato; per compiti complessi, l’uso di tutti e cinque migliora significativamente la qualità dell’output.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Tecniche di Prompting Avanzate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Few-shot, Chain-of-Thought e altre tecniche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Zero-Shot vs Few-Shot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prompting zero-shot si chiede direttamente all’IA di eseguire un compito senza fornire esempi. Nel prompting few-shot si includono uno o più esempi di input-output desiderato prima di formulare la richiesta vera e propria. Il few-shot è particolarmente utile nella PA per mantenere coerenza di formato e tono.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840480" cy="2560320"/>
          </a:xfrm>
          <a:prstGeom prst="rect">
            <a:avLst/>
          </a:prstGeom>
          <a:solidFill>
            <a:srgbClr val="D5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esempio fornito.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interpreta liberamente la richiesta.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Adatto per compiti semplici e ben definiti.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3840480" cy="2560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7432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forniscono 2-3 esempi.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replica il pattern.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 classificazione, formattazione, coerenza.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1 – Few-Shot per Classificazione Protocollo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 le seguenti istanze nella categoria corretta.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Esempio 1: "Richiesta rimborso spese mediche dipendente" → Categoria: Risorse Umane - Trattamento Economico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Esempio 2: "Segnalazione buca stradale Via Roma" → Categoria: Lavori Pubblici - Manutenzione Strade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Esempio 3: "Domanda di partecipazione concorso dirigente" → Categoria: Risorse Umane - Concorsi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 classifica: "Richiesta autorizzazione occupazione suolo pubblico per evento benefico"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atteso: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Commercio e Attività Produttive - Occupazione Suolo Pubblico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Chain-of-Thought (Ragionamento Passo-Passo)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Chiedere all’IA di ragionare passo dopo passo è essenziale quando si affrontano compiti complessi che richiedono analisi normativa, verifica di requisiti o valutazione di conformità. Questa tecnica riduce gli errori e rende il ragionamento trasparente e verificabile.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usare il Chain-of-Thought nella PA: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requisiti di bandi e avvisi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di conformità normativa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di ammissibilità di istanze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di punteggi per graduatorie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del rischio AI Act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2 – Chain-of-Thought: Verifica Requisiti Bando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Un’azienda ha presentato domanda per un bando regionale: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Fatturato ultimo esercizio: 850.000 € • Dipendenti: 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Sede legale: Napoli • Settore: agroalimentare • Anno di costituzione: 2019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Requisiti del bando: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PMI con fatturato &lt; 2M€ • Almeno 5 dipendenti • Sede operativa in Campania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Settori ammessi: agroalimentare, ICT, turismo • Costituita da almeno 3 anni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 ciascun requisito singolarmente, indica se è soddisfatto (SÌ/NO),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 esprimi un giudizio complessivo di ammissibilità.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atteso: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Fatturato &lt; 2M€: 850.000€ → SÌ  |  2. Dipendenti ≥ 5: 12 → SÌ  |  3. Sede Campania: Napoli → SÌ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Settore ammesso: agroalimentare → SÌ  |  5. Costituita ≥ 3 anni: 2019 (7 anni) → SÌ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Giudizio: AMMISSIBILE – tutti i requisiti risultano soddisfatti.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Prompt con Persona e Audience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Specificare sia il ruolo dell’IA sia il destinatario del testo migliora notevolmente l’adeguatezza del registro linguistico e del livello di dettaglio. Nella PA, questa tecnica è cruciale perché lo stesso contenuto deve essere comunicato in modo diverso a colleghi, dirigenti, cittadini o organi di controllo.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3 – Stesso Contenuto, Destinatari Diversi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 un funzionario dell’Ufficio Tributi. Il Comune ha approvato una nuova esenzione IMU per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 immobili dati in comodato d’uso gratuito ai parenti di primo grado.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Scrivi DUE versioni: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Una comunicazione per i cittadini da pubblicare sul sito del Comune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(linguaggio semplice, pratico)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Una nota interna per i colleghi dell’ufficio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(linguaggio tecnico, riferimenti normativi)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 Prompt Negativi: Dire Cosa NON Fare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Indicare esplicitamente cosa l’IA deve evitare è altrettanto importante quanto dire cosa deve fare. Nella PA, i vincoli negativi sono fondamentali per garantire correttezza, neutralità e conformità normativa.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4 – Prompt con Vincoli Negativi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Redigi un comunicato stampa del Comune sulla chiusura temporanea della Galleria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Umberto I per lavori di ristrutturazione.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includere: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Opinioni personali sulla gestione dei lavori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Riferimenti a controversie politiche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Promesse su date di riapertura non confermate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Linguaggio allarmistico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INCLUDI: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Durata prevista dell’intervento • Alternative per i commercianti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Recapiti per informazioni • Tono istituzionale e rassicurante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Casi d’Uso Pratici nella PA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 amministrativi, analisi normativa, verbali, comunicazione, AI Act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1 – Bozza di Determina Dirigenziale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Agisci come un funzionario esperto di contabilità pubblica.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Redigi la bozza di una determina dirigenziale per l’affidamento diretto di un servizio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manutenzione impianti climatizzazione, ai sensi dell’art. 50 D.Lgs. 36/2023.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Dati: Importo 35.000€+IVA | Fornitore: Clima Service S.r.l. | Durata: 12 mesi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CIG: acquisito su piattaforma ANAC | Cap. 1520 - Manutenzione immobili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Struttura: Premesse normative, Richiamato, Considerato, Dato atto, Determina.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Tono: formale, tecnico-giuridico.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2 – Sintesi Comparativa di Normative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 un esperto di diritto dell’innovazione digitale nella PA.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 i seguenti provvedimenti rispetto agli obblighi per le PA italiane in materia di IA: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Regolamento UE 2024/1689 (AI Act)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D.Lgs. 82/2005 (Codice dell’Amministrazione Digitale, CAD)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Legge 132/2025 (Disposizioni in materia di IA)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ciascuno indica: Ambito di applicazione alla PA | Obblighi principali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Sanzioni previste | Stato di attuazione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tabella comparativa. Evidenzia le sovrapposizioni e le lacune.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3 – Verbale di Riunione da Appunti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Trasforma i seguenti appunti in un verbale formale di riunione.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Appunti: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Riunione 10 marzo 2026 ore 10:00 sala giunta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Presenti: Dir. Rossi, Funz. Bianchi, Funz. Esposito, Resp. ICT De Luca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Discusso bando digitalizzazione PNRR M1C1 - scadenza 30 aprile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Rossi: serve gruppo di lavoro dedicato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Bianchi: mappatura servizi da digitalizzare entro fine marzo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 Luca: problema compatibilità sistema protocollo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Decidono: Esposito coordina GdL, riunione settimanale mercoledì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verbale istituzionale (OdG, Discussione, Deliberazioni, Prossimi passi).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Tono: formale, impersonale, terza persona.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4 – FAQ per Servizio Digitale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 un esperto di comunicazione pubblica e UX writing.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 8 FAQ per il lancio del nuovo portale online del Comune per la richiesta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certificati anagrafici (nascita, residenza, stato di famiglia, stato civile).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 servizio richiede SPID o CIE per l’accesso. I certificati sono disponibili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formato digitale con bollo virtuale pagabile con PagoPA.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Tempi: immediati per certificati semplici, 3 gg lavorativi per storici.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Requisiti: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Linguaggio chiaro, livello B1 del QCER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Ogni risposta max 3 frasi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Includi FAQ su accessibilità per persone con disabilità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Includi FAQ su assistenza per chi non ha SPID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5 – Valutazione Rischio AI 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Agisci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come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esperto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regolamentazione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IA (Reg. UE 2024/1689, L. 132/2025).</a:t>
            </a:r>
            <a:endParaRPr lang="en-US" sz="1100" dirty="0">
              <a:latin typeface="Courier New"/>
              <a:cs typeface="Courier New"/>
            </a:endParaRP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Un Comune vuole implementare i seguenti sistemi di IA:</a:t>
            </a:r>
            <a:endParaRPr lang="en-US" sz="1100">
              <a:latin typeface="Courier New"/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A) Chatbot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informazioni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su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orari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uffici</a:t>
            </a:r>
            <a:endParaRPr lang="en-US" sz="1100" dirty="0" err="1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B) Sistema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predittivo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identificare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famiglie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a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rischio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disagio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sociale</a:t>
            </a:r>
            <a:endParaRPr lang="en-US" sz="1100" dirty="0" err="1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C) IA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ottimizzare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percorsi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raccolta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rifiuti</a:t>
            </a:r>
            <a:endParaRPr lang="en-US" sz="1100" dirty="0" err="1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D)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Riconoscimento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facciale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per accesso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parcheggi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comunali</a:t>
            </a:r>
            <a:endParaRPr lang="en-US" sz="1100" dirty="0" err="1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E) Pre-screening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automatico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domande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contributo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economico</a:t>
            </a:r>
            <a:endParaRPr lang="en-US" sz="1100" dirty="0" err="1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ciascuno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: (1)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Classifica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rischio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(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Inaccettabile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/Alto/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Limitato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/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Minimo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11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(2) Motiva con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articoli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pertinenti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(3)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Obblighi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per il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Comune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(4)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Criticità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GDPR</a:t>
            </a:r>
            <a:endParaRPr lang="en-US" sz="11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4FBD6-CDE4-1778-0EB5-2B370457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5E7DAD-6FF9-7454-85BB-543977251CF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3D75CC-35F5-0014-06AF-3483ED67A316}"/>
              </a:ext>
            </a:extLst>
          </p:cNvPr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B3A5C"/>
                </a:solidFill>
                <a:latin typeface="Georgia"/>
                <a:ea typeface="Georgia" pitchFamily="34" charset="-122"/>
                <a:cs typeface="Georgia" pitchFamily="34" charset="-120"/>
              </a:rPr>
              <a:t>Caso 6 – </a:t>
            </a:r>
            <a:r>
              <a:rPr lang="en-US" sz="2000" b="1" err="1">
                <a:solidFill>
                  <a:srgbClr val="1B3A5C"/>
                </a:solidFill>
                <a:latin typeface="Georgia"/>
                <a:ea typeface="Georgia" pitchFamily="34" charset="-122"/>
                <a:cs typeface="Georgia" pitchFamily="34" charset="-120"/>
              </a:rPr>
              <a:t>Valutazione</a:t>
            </a:r>
            <a:r>
              <a:rPr lang="en-US" sz="2000" b="1" dirty="0">
                <a:solidFill>
                  <a:srgbClr val="1B3A5C"/>
                </a:solidFill>
                <a:latin typeface="Georgia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000" b="1" err="1">
                <a:solidFill>
                  <a:srgbClr val="1B3A5C"/>
                </a:solidFill>
                <a:latin typeface="Georgia"/>
                <a:ea typeface="Georgia" pitchFamily="34" charset="-122"/>
                <a:cs typeface="Georgia" pitchFamily="34" charset="-120"/>
              </a:rPr>
              <a:t>Rischio</a:t>
            </a:r>
            <a:r>
              <a:rPr lang="en-US" sz="2000" b="1" dirty="0">
                <a:solidFill>
                  <a:srgbClr val="1B3A5C"/>
                </a:solidFill>
                <a:latin typeface="Georgia"/>
                <a:ea typeface="Georgia" pitchFamily="34" charset="-122"/>
                <a:cs typeface="Georgia" pitchFamily="34" charset="-120"/>
              </a:rPr>
              <a:t> AI Act</a:t>
            </a:r>
            <a:endParaRPr lang="en-US" sz="2000" dirty="0">
              <a:latin typeface="Georgi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8D07BDF-5DD2-4987-A242-D7DE9875CAA5}"/>
              </a:ext>
            </a:extLst>
          </p:cNvPr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590915-9CA3-ED3F-6C01-D1EB076DC8B2}"/>
              </a:ext>
            </a:extLst>
          </p:cNvPr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D644C5-B90F-8C31-23FE-A97646054617}"/>
              </a:ext>
            </a:extLst>
          </p:cNvPr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4DD65E-FFA0-6E58-26F2-0ED3A4235CA8}"/>
              </a:ext>
            </a:extLst>
          </p:cNvPr>
          <p:cNvSpPr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Agisci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come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esperto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regolamentazione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IA (Reg. UE 2024/1689, L. 132/2025).</a:t>
            </a:r>
            <a:endParaRPr lang="en-US" sz="1100" dirty="0">
              <a:latin typeface="Courier New"/>
              <a:cs typeface="Courier New"/>
            </a:endParaRP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Un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ufficio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HR Management di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gestione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risorse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umane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vuol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implementare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seguenti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sistemi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 IA:</a:t>
            </a:r>
            <a:endParaRPr lang="en-US" sz="1100" dirty="0">
              <a:latin typeface="Courier New"/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A) Chatbot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informazioni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su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orari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uffici</a:t>
            </a:r>
            <a:endParaRPr lang="en-US" sz="1100" dirty="0" err="1">
              <a:latin typeface="Courier New"/>
              <a:cs typeface="Courier New"/>
            </a:endParaRP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B) Sistema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predittivo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identificare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 le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esigenze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 degli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uffici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, come le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carenze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personale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 </a:t>
            </a:r>
            <a:endParaRPr lang="en-US" sz="1100" dirty="0">
              <a:solidFill>
                <a:srgbClr val="2D2D2D"/>
              </a:solidFill>
              <a:latin typeface="Courier New"/>
              <a:cs typeface="Courier New"/>
            </a:endParaRP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C) IA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ottimizzare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 le procedure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concorsuali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 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mirate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, in base alla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mappatura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delle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competenze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 </a:t>
            </a:r>
            <a:endParaRPr lang="en-US" sz="1100" dirty="0">
              <a:solidFill>
                <a:srgbClr val="2D2D2D"/>
              </a:solidFill>
              <a:latin typeface="Courier New"/>
              <a:cs typeface="Courier New"/>
            </a:endParaRP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(es. 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mobilità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invece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 fare un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concorso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spostare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una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risorsa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che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è in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eccesso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da un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reparto</a:t>
            </a:r>
            <a:endParaRPr lang="en-US" sz="1100" dirty="0">
              <a:solidFill>
                <a:srgbClr val="2D2D2D"/>
              </a:solidFill>
              <a:latin typeface="Courier New"/>
              <a:ea typeface="Courier New" pitchFamily="34" charset="-122"/>
              <a:cs typeface="Courier New"/>
            </a:endParaRPr>
          </a:p>
          <a:p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che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invece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serve in un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altro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D) IA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ottimizzare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 </a:t>
            </a: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cs typeface="Courier New"/>
              </a:rPr>
              <a:t>E)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cs typeface="Courier New"/>
              </a:rPr>
              <a:t>Riconoscimento</a:t>
            </a:r>
            <a:r>
              <a:rPr lang="en-US" sz="11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cs typeface="Courier New"/>
              </a:rPr>
              <a:t>facciale</a:t>
            </a:r>
            <a:r>
              <a:rPr lang="en-US" sz="1100" dirty="0">
                <a:solidFill>
                  <a:srgbClr val="2D2D2D"/>
                </a:solidFill>
                <a:latin typeface="Courier New"/>
                <a:cs typeface="Courier New"/>
              </a:rPr>
              <a:t> 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cs typeface="Courier New"/>
              </a:rPr>
              <a:t>timbratura</a:t>
            </a:r>
            <a:r>
              <a:rPr lang="en-US" sz="1100" dirty="0">
                <a:solidFill>
                  <a:srgbClr val="2D2D2D"/>
                </a:solidFill>
                <a:latin typeface="Courier New"/>
                <a:cs typeface="Courier New"/>
              </a:rPr>
              <a:t> 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cs typeface="Courier New"/>
              </a:rPr>
              <a:t>ingresso</a:t>
            </a:r>
            <a:r>
              <a:rPr lang="en-US" sz="11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cs typeface="Courier New"/>
              </a:rPr>
              <a:t>uscita</a:t>
            </a:r>
            <a:r>
              <a:rPr lang="en-US" sz="11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cs typeface="Courier New"/>
              </a:rPr>
              <a:t>dipendenti</a:t>
            </a:r>
            <a:r>
              <a:rPr lang="en-US" sz="1100" dirty="0">
                <a:solidFill>
                  <a:srgbClr val="2D2D2D"/>
                </a:solidFill>
                <a:latin typeface="Courier New"/>
                <a:cs typeface="Courier New"/>
              </a:rPr>
              <a:t> </a:t>
            </a:r>
          </a:p>
          <a:p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F) Pre-screening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automatico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domande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di PEO – PEV</a:t>
            </a:r>
            <a:endParaRPr lang="en-US" sz="1100" dirty="0" err="1">
              <a:solidFill>
                <a:srgbClr val="000000"/>
              </a:solidFill>
              <a:latin typeface="Courier New"/>
              <a:ea typeface="Courier New" pitchFamily="34" charset="-122"/>
              <a:cs typeface="Courier New"/>
            </a:endParaRPr>
          </a:p>
          <a:p>
            <a:endParaRPr lang="en-US" sz="1100" dirty="0">
              <a:solidFill>
                <a:srgbClr val="2D2D2D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Per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ciascuno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: (1)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Classifica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rischio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(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Inaccettabile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/Alto/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Limitato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/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Minimo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11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(2) Motiva con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articoli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pertinenti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(3)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Obblighi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per il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Comune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(4) </a:t>
            </a:r>
            <a:r>
              <a:rPr lang="en-US" sz="1100" dirty="0" err="1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Criticità</a:t>
            </a:r>
            <a:r>
              <a:rPr lang="en-US" sz="1100" dirty="0">
                <a:solidFill>
                  <a:srgbClr val="2D2D2D"/>
                </a:solidFill>
                <a:latin typeface="Courier New"/>
                <a:ea typeface="Courier New" pitchFamily="34" charset="-122"/>
                <a:cs typeface="Courier New"/>
              </a:rPr>
              <a:t> GDPR</a:t>
            </a:r>
            <a:endParaRPr lang="en-US" sz="11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23262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Errori Comuni e Come Evitarli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Errori Comuni nel Prompting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Inefficace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Migliorato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Troppo vago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"Scrivi qualcosa sulla digitalizzazione"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"Redigi un executive summary di 300 parole sullo stato della digitalizzazione nei Comuni campani"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"Dimmi i vantaggi del cloud nella PA"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"Elenca 5 vantaggi del cloud nella PA, ciascuno con: titolo, descrizione (2 righe), esempio, rif. normativo"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ruolo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"Rispondi a questa PEC"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"Agisci come resp. URP. Un cittadino lamenta ritardo CIE (45 gg). Scrivi risposta empatica ma istituzionale"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Compito unico troppo complesso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"Analizza bilancio, trova criticità e scrivi relazione"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Suddividi in 3 prompt: (1) analisi dati, (2) criticità, (3) relazione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Fidarsi ciecamente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Copia-incolla senza verifica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"Indica le fonti normative citate e il livello di certezza per ciascuna affermazione"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Attenzione: Allucinazioni e Dati Sensibili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28600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modelli di IA possono generare informazioni plausibili ma false (allucinazioni).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SEMPRE i riferimenti normativi, le date e i dati numerici.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inserire mai dati personali dei cittadini nei prompt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(GDPR, art. 5 e 6).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Utilizzare dati anonimizzati o fittizi per le richieste.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Template di Prompt Riusabili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pronti all’uso per le attività quotidiane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1 – Risposta a Istanza del Cittadino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Ruolo: Agisci come [ruolo specifico] dell’ente [nome ente].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Contesto: Il cittadino ha presentato [tipo istanza] in data [data],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protocollo n. [numero]. L’istanza riguarda [oggetto sintetico].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Istruzione: Redigi una risposta che [accolga/rigetti/accolga parzialmente]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l’istanza.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Intestazione, premesse normative, motivazione, dispositivo,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indicazione dei termini e delle modalità di ricorso.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Vincoli: Tono formale. Max [n] parole. Cita [normativa specifica].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includere [elementi da escludere].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2 – Analisi e Sintesi Documentale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Analizza il seguente [tipo documento: delibera/regolamento/circolare/bando].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Estrai: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 Oggetto e finalità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(2) Soggetti coinvolti e obblighi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 Scadenze e tempistiche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(4) Risorse finanziarie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 Criticità o ambiguità interpretative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[tabella/elenco puntato/relazione discorsiva].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Concludi con un paragrafo di "Implicazioni operative" per l’ufficio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[nome ufficio].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3 – Generazione Verbale/Resoconto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Trasforma i seguenti appunti in un verbale formale.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[Incollare gli appunti qui]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Struttura: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Data / Luogo / Presenti / Assenti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Ordine del giorno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Discussione per punto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Deliberazioni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Azioni e Responsabili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Prossimo incontro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Tono: impersonale, terza persona, linguaggio istituzionale.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Distingui chiaramente fatti, opinioni e decisioni.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Esercizi Pratici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svolgere individualmente o in gruppo con strumenti IA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Istruzioni per gli Esercizi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seguenti esercizi sono pensati per essere svolti individualmente o in gruppo, utilizzando un qualsiasi strumento di IA generativa (Claude, Gemini, Copilot).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ciascun esercizio, si richiede di: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il prompt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Eseguirlo sullo strumento scelto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 l’output criticamente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necessario, iterare migliorando il prompt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1 – Livello Base: Semplificazione Linguistica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 comprensibile un testo amministrativo complesso.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Prendi un comma di una legge o di un regolamento a tua scelta (es. un articolo del CAD o del TUEL) e scrivi un prompt che chieda all’IA di riscriverlo in linguaggio semplice (livello B1 QCER), adatto a un cittadino senza formazione giuridica.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di valutazione: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testo semplificato mantiene il significato giuridico? È comprensibile? Il prompt specificava il target di lettori e il livello linguistico?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2 – Livello Base: Classificazione Documentale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un prompt few-shot per la classificazione automatica della corrispondenza.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Definisci 5 categorie rilevanti per il protocollo del tuo ente (es. Urbanistica, Tributi, Anagrafe, Personale, Lavori Pubblici). Scrivi un prompt con 3 esempi di classificazione corretta, poi testa il modello con 5 nuove istanze.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di valutazione: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Accuratezza della classificazione. Il modello gestisce casi ambigui (istanze che potrebbero rientrare in più categorie)?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3 – Livello Intermedio: Redazione Atto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una bozza di atto amministrativo completo.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uno dei seguenti scenari e scrivi un prompt completo (RCIFV):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Determina di liquidazione di una fattura per servizi di pulizia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Ordinanza sindacale di chiusura temporanea strada per manifestazione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Delibera di giunta per approvazione piano triennale fabbisogni di personale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Completezza dell’atto. Correttezza dei riferimenti normativi (verificare!). Adeguatezza del linguaggio giuridico-amministrativo.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4 – Livello Intermedio: Prompt Iterativo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Sperimentare il miglioramento progressivo del prompt.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 da questo prompt generico: "Scrivi un avviso pubblico per un bando di contributi". Migliora il prompt in 4 iterazioni successive, aggiungendo ogni volta un elemento (Ruolo, Contesto, Formato, Vincoli). Confronta i 4 output e documenta come cambia la qualità della risposta ad ogni iterazione.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documentazione delle iterazioni è chiara? Il miglioramento è evidente e misurabile?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5 – Livello Avanzato: Conformità AI 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 un sistema IA rispetto al quadro normativo europeo e italiano.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Immagina che il tuo ente voglia adottare un sistema di IA per uno dei seguenti scopi: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Analisi predittiva dell’evasione tributaria locale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Chatbot per accoglienza e smistamento richieste allo sportello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Scoring per prioritizzazione domande edilizia residenziale pubblica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un prompt che chieda di: classificare il rischio AI Act, identificare obblighi GDPR, suggerire misure di mitigazione e proporre una checklist di conformità per il DPO dell’ente.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6 – Livello Avanzato: Progetto di Gruppo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una libreria di prompt condivisa per l’ente.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gruppi di 3-4 persone, identificate 10 attività ricorrenti nel vostro ufficio che potrebbero beneficiare dell’uso dell’IA. Per ciascuna attività: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Scrivete il prompt ottimale (RCIFV)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Testatelo su almeno 2 strumenti diversi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Documentate i risultati e le differenze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Create una scheda riusabile per ciascun prompt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atteso: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condivisibile con la libreria dei prompt, pronto per essere distribuito ai colleghi.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Checklist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inviare il prompt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Checklist: Prima di Inviare il Prompt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Ho specificato il ruolo/competenza richiesta all’IA?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Ho fornito il contesto sufficiente (normativa, ente, situazione)?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L’istruzione è chiara e non ambigua?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Ho indicato il formato di output desiderato?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Ho inserito vincoli (tono, lunghezza, elementi da includere/escludere)?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Ho evitato di inserire dati personali reali dei cittadini?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Se il compito è complesso, l’ho suddiviso in sotto-prompt?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Ho chiesto all’IA di citare le fonti e indicare il livello di certezza?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Sono pronto a verificare l’output (rif. normativi, dati, date)?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L’uso è conforme alle policy dell’ente e alla normativa vigente?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Conclusioni e Risorse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engineering non è una competenza esclusivamente tecnica: è una forma di comunicazione strutturata che richiede chiarezza di pensiero, conoscenza del dominio e consapevolezza dei limiti dello strumento.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chiave da ricordare: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è uno strumento, non un sostituto del giudizio umano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ben strutturato (RCIFV) produce risultati significativamente migliori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Iterare e raffinare i prompt è parte del processo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sempre l’output, specialmente i riferimenti normativi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Rispettare la privacy: mai dati personali reali nei prompt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Condividere i prompt efficaci con i colleghi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 per l’attenzione!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365760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Prof.ssa Flora Amato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 – DIPARTIMENTO DI INGEGNERIA ELETTRICA E DELLE TECNOLOGIE DELL’INFORMAZIONI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Federico II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flora.amato@unina.it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3B103457D0EE47A147E7CAA46D706D" ma:contentTypeVersion="3" ma:contentTypeDescription="Create a new document." ma:contentTypeScope="" ma:versionID="a5a97df326a0e259b82c440f25ce95a5">
  <xsd:schema xmlns:xsd="http://www.w3.org/2001/XMLSchema" xmlns:xs="http://www.w3.org/2001/XMLSchema" xmlns:p="http://schemas.microsoft.com/office/2006/metadata/properties" xmlns:ns2="c6ea8c6a-1ef4-4cba-ad03-3b398055cc2a" targetNamespace="http://schemas.microsoft.com/office/2006/metadata/properties" ma:root="true" ma:fieldsID="d549956f79f764b0d5efc363668b3c58" ns2:_="">
    <xsd:import namespace="c6ea8c6a-1ef4-4cba-ad03-3b398055cc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ea8c6a-1ef4-4cba-ad03-3b398055cc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420528-7BF0-4003-9944-15F28A0960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E421CA-0F6F-4484-AE3D-9BB00E82B4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EFF761-640A-4F36-A0B5-C005D432FF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ea8c6a-1ef4-4cba-ad03-3b398055cc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3147</Words>
  <Application>Microsoft Office PowerPoint</Application>
  <PresentationFormat>Presentazione su schermo (16:9)</PresentationFormat>
  <Paragraphs>401</Paragraphs>
  <Slides>43</Slides>
  <Notes>43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43</vt:i4>
      </vt:variant>
    </vt:vector>
  </HeadingPairs>
  <TitlesOfParts>
    <vt:vector size="44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nella PA - Prompt Engineering</dc:title>
  <dc:subject>PptxGenJS Presentation</dc:subject>
  <dc:creator>Prof.ssa Flora Amato</dc:creator>
  <cp:lastModifiedBy>Flora Amato</cp:lastModifiedBy>
  <cp:revision>41</cp:revision>
  <dcterms:created xsi:type="dcterms:W3CDTF">2026-03-12T12:45:38Z</dcterms:created>
  <dcterms:modified xsi:type="dcterms:W3CDTF">2026-03-14T08:47:36Z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0x010100423B103457D0EE47A147E7CAA46D706D</vt:lpwstr>
  </property>
</Properties>
</file>